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2560320" cy="3200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SMART MOBILITY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F172A"/>
                </a:solidFill>
                <a:latin typeface="Segoe UI"/>
              </a:defRPr>
            </a:pPr>
            <a:r>
              <a:t>SmartParking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50">
                <a:solidFill>
                  <a:srgbClr val="475569"/>
                </a:solidFill>
                <a:latin typeface="Segoe UI"/>
              </a:defRPr>
            </a:pPr>
            <a:r>
              <a:t>AI-Powered Real-Time Parking Reservation, Jenkins CI Pipeline &amp; Kubernetes Orchestration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54203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3447288"/>
            <a:ext cx="1005840" cy="237744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13048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SWE4008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70248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Application Development &amp; Deployment Architecture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246120"/>
            <a:ext cx="254203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39312" y="3447288"/>
            <a:ext cx="1005840" cy="237744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FACULTY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813048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Faculty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270248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Prof. Dr. Madala Guru Brahmam Sir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246120"/>
            <a:ext cx="254203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3447288"/>
            <a:ext cx="1005840" cy="237744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SLOT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3813048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L11 + L12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4270248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Winter Semester Laboratory &amp; Project Schedule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3246120"/>
            <a:ext cx="2542032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89136" y="3447288"/>
            <a:ext cx="1005840" cy="237744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3813048"/>
            <a:ext cx="21762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Project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4270248"/>
            <a:ext cx="217627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23MIC7268  •  23MIC7024</a:t>
            </a:r>
            <a:br/>
            <a:r>
              <a:t>23MIC7063  •  23MIC7255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6974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URBAN MOBILITY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Urban parking congestion wastes productive hours, inflates fuel consumption, and creates widespread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5943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Severe Traffic Congestion &amp; Fuel Waste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Urban motorists spend an average of 20+ minutes circling commercial corridors seeking an open spot. This cruising accounts for 30% of downtown traffic and substantial unnecessary carbon emissions.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5943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Zero Real-Time Destination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Drivers leave home with no verifiable information on whether their destination mall, metro terminal, or office deck has available bays, leading to unexpected delays and missed appointments.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133088"/>
            <a:ext cx="5943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Manual Spreadsheets &amp; Overbooking 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Commercial parking facilities rely on manual paper tokens and fragmented logs. Lack of centralized synchronization causes double-booking, gate disputes, and lost revenue.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4133088"/>
            <a:ext cx="5943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Unfair &amp; Rigid Rate Structures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Two-wheelers are routinely charged car-level parking rates, and static fees fail to adapt to live demand peaks, leaving prime bays overcrowded while upper decks sit empty.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4231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SYSTEM SCOPE &amp;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Building a full-stack, deterministic reservation system empowered by transparent AI and enterprise DevOps.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5943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Real Google Maps Locations (Zero-Fake Guarantee)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Integrate 49 verified commercial parking complexes across 7 major Indian cities with authentic basement deck slot codes and strict 5 km radius enforcement — no placeholder or synthetic entries.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5943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Explainable AI Proximity-First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Ensure searched malls prioritize at 0.0 km over distant bus or railway terminals, with normalized scoring across distance, price, real-time availability, and covered/EV perks.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133088"/>
            <a:ext cx="5943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Calibrated Dynamic Pricing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Implement fair two-wheeler pricing (0.40x multiplier = ₹12/hr for bikes vs ₹30/hr for cars) alongside transparent occupancy demand bands and itemized checkout breakdowns.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4133088"/>
            <a:ext cx="5943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Enterprise Jenkins CI &amp; Kubernetes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Automate parallel unit testing and JUnit reporting with Jenkins, coupled with production-ready Kubernetes orchestration featuring autoscaling, persistent storage, and zero-downtime rollouts.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5146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CORE VALUE PROPOSITIONS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What Is SmartParking?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 connected platform serving the complete parking ecosystem with dedicated, role-specific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0515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DRIVERS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Find &amp; Reserve 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3-letter destination autocomplete</a:t>
            </a:r>
            <a:br/>
            <a:r>
              <a:t>• Proximity ranking prioritizes exact mall at 0.0 km</a:t>
            </a:r>
            <a:br/>
            <a:r>
              <a:t>• Authentic basement slots (B1-C01, B1-EV01)</a:t>
            </a:r>
            <a:br/>
            <a:r>
              <a:t>• Fair pricing: ₹12/hr bikes, ₹30/hr cars</a:t>
            </a:r>
            <a:br/>
            <a:r>
              <a:t>• Instant digital passes with QR code &amp;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847088"/>
            <a:ext cx="123444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Live Inventory &amp; Yield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Real-time venue occupancy percentage</a:t>
            </a:r>
            <a:br/>
            <a:r>
              <a:t>• Multi-tier deck slot management &amp; bay blocking</a:t>
            </a:r>
            <a:br/>
            <a:r>
              <a:t>• Custom operating hours and facility toggles</a:t>
            </a:r>
            <a:br/>
            <a:r>
              <a:t>• Automated dynamic surge configuration</a:t>
            </a:r>
            <a:br/>
            <a:r>
              <a:t>• Net revenue recognition &amp; trend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1847088"/>
            <a:ext cx="96012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ADMINS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System Oversight &amp;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Commercial parking venue approval lifecycle</a:t>
            </a:r>
            <a:br/>
            <a:r>
              <a:t>• Complete user oversight (Driver, Operator, Admin)</a:t>
            </a:r>
            <a:br/>
            <a:r>
              <a:t>• Container health status &amp; scheduler inspection</a:t>
            </a:r>
            <a:br/>
            <a:r>
              <a:t>• System-wide transaction audit logging</a:t>
            </a:r>
            <a:br/>
            <a:r>
              <a:t>• Dispute handling &amp; slot unblocking authority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5146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FUNCTIONAL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Key Platform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Engineered for simplicity, reliability, and real-world Indian urban parking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5943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Destination Autocomplete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Triggers suggestions upon entering 3 letters; supports live GPS device detection and map-click pin placement.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45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847088"/>
            <a:ext cx="5943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Proximity-First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60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Exact destination malls rank #1 (0.0 km) rather than being displaced by distant bus or train stations.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1847088"/>
            <a:ext cx="5943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Deck Slot Nomenclature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560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Realistic mall basement codes (B1-C01 to B2-C06, B1-EV01, B1-M01) instead of generic single letters.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133088"/>
            <a:ext cx="5943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462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Calibrated Two-Wheeler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0.40x multiplier for motorcycles (₹12/hr) vs 1.00x for cars (₹30/hr); transparent itemized billing.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931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08576" y="4133088"/>
            <a:ext cx="5943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462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Deterministic Hold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846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10-minute hold window reserves 15-minute slot blocks in MySQL; background worker auto-sweeps unpaid holds.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3931920"/>
            <a:ext cx="3429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57032" y="4133088"/>
            <a:ext cx="5943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2" y="4462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Autonomous Preference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2" y="4846320"/>
            <a:ext cx="2971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Rule-based background auto-booking evaluated on schedule; fallback forms ensure 100% uptime when AI is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7889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CONTAINERIZED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Clean 5-tier decoupled design: deterministic backend core guarantees 100% booking reliability.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01368"/>
            <a:ext cx="9601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30552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Presentation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42032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2743200"/>
            <a:ext cx="96012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TIER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72384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Reverse Proxy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83864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685032"/>
            <a:ext cx="96012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TIER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14216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API &amp; Business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25696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4626864"/>
            <a:ext cx="96012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TIER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56048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AI &amp; Background Workers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67528"/>
            <a:ext cx="10728655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5568696"/>
            <a:ext cx="9601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TIER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897880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Data &amp; Persistence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4231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ENGINEERING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Modern open-source technologies selected for performance, type safety, automated CI, and container orchestration.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0515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FastAPI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Python 3.12 &amp; aiomysql pooling</a:t>
            </a:r>
            <a:br/>
            <a:r>
              <a:t>• Pydantic v2 data schemas</a:t>
            </a:r>
            <a:br/>
            <a:r>
              <a:t>• PyJWT auth with secure cookies</a:t>
            </a:r>
            <a:br/>
            <a:r>
              <a:t>• APScheduler background jobs</a:t>
            </a:r>
            <a:br/>
            <a:r>
              <a:t>• Starlette CORS &amp; rate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85032" y="1847088"/>
            <a:ext cx="114300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React 18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Vite &amp; Tailwind CSS utilities</a:t>
            </a:r>
            <a:br/>
            <a:r>
              <a:t>• Leaflet + OpenStreetMap tiles</a:t>
            </a:r>
            <a:br/>
            <a:r>
              <a:t>• TanStack React Query cache</a:t>
            </a:r>
            <a:br/>
            <a:r>
              <a:t>• Lucide / Feather icon sets</a:t>
            </a:r>
            <a:br/>
            <a:r>
              <a:t>• React Router v6 navigation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847088"/>
            <a:ext cx="10515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AI / 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AI &amp; 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scikit-learn &amp; pandas</a:t>
            </a:r>
            <a:br/>
            <a:r>
              <a:t>• Weighted candidate ranker</a:t>
            </a:r>
            <a:br/>
            <a:r>
              <a:t>• Random Forest forecaster</a:t>
            </a:r>
            <a:br/>
            <a:r>
              <a:t>• Ollama (llama3.2:3b LLM)</a:t>
            </a:r>
            <a:br/>
            <a:r>
              <a:t>• Resilient circuit breaker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34856" y="1847088"/>
            <a:ext cx="15087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DEVOPS &amp; K8S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CI/CD &amp; Kubernetes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Jenkins Declarative Pipeline</a:t>
            </a:r>
            <a:br/>
            <a:r>
              <a:t>• Kubernetes (K8s) &amp; Kustomize</a:t>
            </a:r>
            <a:br/>
            <a:r>
              <a:t>• Horizontal Pod Autoscaler (HPA)</a:t>
            </a:r>
            <a:br/>
            <a:r>
              <a:t>• 7-Service Docker Architecture</a:t>
            </a:r>
            <a:br/>
            <a:r>
              <a:t>• MySQL 8.4 LTS &amp; Redis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2402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RESERVATION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Deterministic Booking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Strict hold-and-confirm lifecycle guarantees zero double-bookings with database-enforced row locks.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933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8229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Search 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16276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Geocodes query against local registry or OpenStreetMap; enforces 5 km radius.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645920"/>
            <a:ext cx="19933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1874519"/>
            <a:ext cx="8229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0672" y="22402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AI Proximity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880360"/>
            <a:ext cx="16276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Ranks candidate slots; prioritizes destination venue at 0.0 km over distant hubs.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645920"/>
            <a:ext cx="19933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66944" y="1874519"/>
            <a:ext cx="8229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66944" y="22402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10-Min 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4" y="2880360"/>
            <a:ext cx="16276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Creates temporary hold; locks 15-minute time intervals in booking_blocks table.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645920"/>
            <a:ext cx="19933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43216" y="1874519"/>
            <a:ext cx="8229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22402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Pay &amp; Settle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3216" y="2880360"/>
            <a:ext cx="16276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Checkout via Razorpay test mode; background worker cancels unpaid holds after 10 mins.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645920"/>
            <a:ext cx="199339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19488" y="1874519"/>
            <a:ext cx="8229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STEP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2240280"/>
            <a:ext cx="16276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Active 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880360"/>
            <a:ext cx="16276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Status updates to CONFIRMED; driver receives active pass with slot code &amp; QR badge.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14884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TRANSPARENT BILLING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Dynamic Pricing &amp; Fair Rate 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Proportional vehicle-type multipliers combined with live occupancy surge bands.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86868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SURGE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Occupancy Demand Surge Bands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Standard Band (0% – 60% occupancy): 1.00x multiplier (Base rate ₹30/hr for Car)</a:t>
            </a:r>
            <a:br/>
            <a:br/>
            <a:r>
              <a:t>• Moderate Band (60% – 85% occupancy): 1.15x multiplier (Fair peak rate ₹34/hr)</a:t>
            </a:r>
            <a:br/>
            <a:br/>
            <a:r>
              <a:t>• High Band (85% – 100% occupancy): 1.30x multiplier (Demand cap rate ₹39/hr)</a:t>
            </a:r>
            <a:br/>
            <a:br/>
            <a:r>
              <a:t>Surge multipliers are capped at a reasonable 1.30x maximum to prevent exploitative price gouging during high-traffic mall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8686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Vehicle-Type Multipliers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MOTORCYCLE / TWO-WHEELER: 0.40x multiplier → ₹12/hr (fair authentic rate)</a:t>
            </a:r>
            <a:br/>
            <a:br/>
            <a:r>
              <a:t>• CAR / SEDAN / HATCHBACK: 1.00x multiplier → ₹30/hr (standard mall base rate)</a:t>
            </a:r>
            <a:br/>
            <a:br/>
            <a:r>
              <a:t>• SUV / LARGE VEHICLE: 1.20x multiplier → ₹36/hr (larger bay consumption)</a:t>
            </a:r>
            <a:br/>
            <a:br/>
            <a:r>
              <a:t>• ELECTRIC VEHICLE (EV): 1.10x multiplier → ₹33/hr (with charging access)</a:t>
            </a:r>
            <a:br/>
            <a:br/>
            <a:r>
              <a:t>Itemized formula: Total = Duration × Base Rate × Vehicle Discount × Demand Band.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0574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CANONICAL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Real Google Maps Parking Complexes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49 Real Google Maps venues across 7 Indian metro regions — strictly zero synthetic or placeholder locations.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77724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HYDERABAD (10)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Inorbit Mall Cyberabad, Nexus Mall (Forum Sujana), Sarath City Capital Mall, GVK One Mall, IKEA, Lulu Mall, Next Galleria Punjagutta, Cyber Towers, DLF Cybercity, Mindspace MLCP.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77724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VIJAYAWADA &amp; AMARAVATI (5)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PVP Square Mall Multi-Level, Trendset Mall Benz Circle, Pandit Nehru Bus Station (PNBS) MLCP, Vijayawada Railway West Plaza, Kanaka Durga Temple Ghat Road.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133088"/>
            <a:ext cx="77724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BENGALURU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Phoenix Marketcity Whitefield, Orion Mall Malleshwaram, Nexus Koramangala, Whitefield ITPL Transit.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4133088"/>
            <a:ext cx="77724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MUMBAI, NCR, PUNE &amp; CHENNAI (7)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Inorbit Mall Malad, Phoenix Palladium Lower Parel, Palika Bazar Underground CP, Select CITYWALK Saket, Phoenix Marketcity Pune, Express Avenue Chennai.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3317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Role-Based Access Control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Clean role demarcation with generic account profiles: Driver, Operator, and Admin.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77724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ROLE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DRIVER (Driver User)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Demo Account: driver@test.com</a:t>
            </a:r>
            <a:br/>
            <a:br/>
            <a:r>
              <a:t>• Search nearby parking across Indian cities</a:t>
            </a:r>
            <a:br/>
            <a:r>
              <a:t>• Hold, book, pay (Razorpay/venue), &amp; cancel</a:t>
            </a:r>
            <a:br/>
            <a:r>
              <a:t>• View confirmed passes with Slot Code &amp; QR</a:t>
            </a:r>
            <a:br/>
            <a:r>
              <a:t>• Configure auto-booking budget &amp; distance rules</a:t>
            </a:r>
            <a:br/>
            <a:r>
              <a:t>• Access AI Chat conversational parking assistant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847088"/>
            <a:ext cx="77724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OPERATOR (Operator User)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Demo Account: operator@test.com</a:t>
            </a:r>
            <a:br/>
            <a:br/>
            <a:r>
              <a:t>• Add and update commercial parking locations</a:t>
            </a:r>
            <a:br/>
            <a:r>
              <a:t>• Configure deck slots inventory &amp; vehicle types</a:t>
            </a:r>
            <a:br/>
            <a:r>
              <a:t>• View live bookings &amp; venue occupancy</a:t>
            </a:r>
            <a:br/>
            <a:r>
              <a:t>• Configure operating hours, amenities, &amp; base rates</a:t>
            </a:r>
            <a:br/>
            <a:r>
              <a:t>• Track live revenue recognition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1847088"/>
            <a:ext cx="77724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ADMIN (Admin User)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Demo Account: admin@test.com</a:t>
            </a:r>
            <a:br/>
            <a:br/>
            <a:r>
              <a:t>• Approve, reject, or suspend commercial venues</a:t>
            </a:r>
            <a:br/>
            <a:r>
              <a:t>• Full platform user administration (all roles)</a:t>
            </a:r>
            <a:br/>
            <a:r>
              <a:t>• System-wide occupancy &amp; transaction audit trails</a:t>
            </a:r>
            <a:br/>
            <a:r>
              <a:t>• Override disputed bookings or blocked slots</a:t>
            </a:r>
            <a:br/>
            <a:r>
              <a:t>• Inspect Docker container health &amp; scheduler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8745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AUTOMATED 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CI/CD &amp; Cloud Deployment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End-to-end continuous integration and deployment pipeline uniting Git, Jenkins, and Kubernetes.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0515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Git Version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Monorepo housing Frontend, Backend, AI &amp; K8s</a:t>
            </a:r>
            <a:br/>
            <a:r>
              <a:t>• Feature branch workflow with pull request gates</a:t>
            </a:r>
            <a:br/>
            <a:r>
              <a:t>• Webhook triggers Jenkins build on code commit</a:t>
            </a:r>
            <a:br/>
            <a:r>
              <a:t>• Declarative Jenkinsfile tracks pipeline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85032" y="1847088"/>
            <a:ext cx="10515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Jenkins CI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Parallel execution of Backend &amp; AI test suites</a:t>
            </a:r>
            <a:br/>
            <a:r>
              <a:t>• 14 Pytest assertions validated in isolation</a:t>
            </a:r>
            <a:br/>
            <a:r>
              <a:t>• Strict JUnit XML reporting (results.xml)</a:t>
            </a:r>
            <a:br/>
            <a:r>
              <a:t>• Zero-tolerance failure gate stops broken builds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9944" y="1847088"/>
            <a:ext cx="10515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Docker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Multi-stage production container builds</a:t>
            </a:r>
            <a:br/>
            <a:r>
              <a:t>• Nginx-optimized SPA frontend artifact</a:t>
            </a:r>
            <a:br/>
            <a:r>
              <a:t>• Python 3.12 slim images with strict security</a:t>
            </a:r>
            <a:br/>
            <a:r>
              <a:t>• Version-tagged images pushed to local registry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645920"/>
            <a:ext cx="2542032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34856" y="1847088"/>
            <a:ext cx="10515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176272"/>
            <a:ext cx="20848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Kubernetes 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560320"/>
            <a:ext cx="2084832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Kustomize manifest validation &amp; dry-run linting</a:t>
            </a:r>
            <a:br/>
            <a:r>
              <a:t>• Zero-downtime rolling update deployment</a:t>
            </a:r>
            <a:br/>
            <a:r>
              <a:t>• Health probe verification before traffic cutover</a:t>
            </a:r>
            <a:br/>
            <a:r>
              <a:t>• Self-healing container restart on failure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5146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CONTAINER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Kubernetes Production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Cloud-native microservices orchestration ensuring high availability, persistence, and autoscaling.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60020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MICROSERVICES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Deployments &amp; Pod Replicas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Backend Deployment (3 replicas) handling REST traffic</a:t>
            </a:r>
            <a:br/>
            <a:r>
              <a:t>• Frontend Deployment (2 replicas) serving Nginx SPA</a:t>
            </a:r>
            <a:br/>
            <a:r>
              <a:t>• AI-Service Deployment (2 replicas) serving ML ranking</a:t>
            </a:r>
            <a:br/>
            <a:r>
              <a:t>• Dedicated Single-Replica Worker (APScheduler hold sweeper)</a:t>
            </a:r>
            <a:br/>
            <a:r>
              <a:t>• RollingUpdate strategy with zero downtime during upgrades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1783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TRAFFIC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Services &amp; Ingress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ClusterIP Services internalizing DB, Cache, API &amp; AI ports</a:t>
            </a:r>
            <a:br/>
            <a:r>
              <a:t>• NodePort (30080) for direct cluster edge access</a:t>
            </a:r>
            <a:br/>
            <a:r>
              <a:t>• Nginx Ingress Controller routing smartparking.local</a:t>
            </a:r>
            <a:br/>
            <a:r>
              <a:t>• Path-based routing: /api to backend, / to frontend SPA</a:t>
            </a:r>
            <a:br/>
            <a:r>
              <a:t>• Integrated CORS, request sizing, and header sanitization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133088"/>
            <a:ext cx="141732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ConfigMaps, Secrets &amp; PVC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ConfigMaps injecting environment-specific variables</a:t>
            </a:r>
            <a:br/>
            <a:r>
              <a:t>• Opaque Secrets protecting DB passwords, JWT &amp; Razorpay keys</a:t>
            </a:r>
            <a:br/>
            <a:r>
              <a:t>• PersistentVolumeClaim (10Gi mysql-pvc) with ReadWriteOnce</a:t>
            </a:r>
            <a:br/>
            <a:r>
              <a:t>• Non-volatile MySQL data persistence across pod restarts</a:t>
            </a:r>
            <a:br/>
            <a:r>
              <a:t>• Redis in-memory storage with AOF persistence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4133088"/>
            <a:ext cx="132588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RESILIENCE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Probes &amp; Horizontal Autoscaler (HPA)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Readiness &amp; Liveness HTTP probes (/health, /api/v1/health)</a:t>
            </a:r>
            <a:br/>
            <a:r>
              <a:t>• Automatic replacement of unhealthy or crashed pods</a:t>
            </a:r>
            <a:br/>
            <a:r>
              <a:t>• HorizontalPodAutoscaler (HPA) for Backend (2 to 5 pods)</a:t>
            </a:r>
            <a:br/>
            <a:r>
              <a:t>• Autoscaling dynamically scales pods on 75% CPU load</a:t>
            </a:r>
            <a:br/>
            <a:r>
              <a:t>• Resource limits &amp; requests prevent node resource starvation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4231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CONTINUOUS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Jenkins CI Pipeline &amp;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Declarative Jenkinsfile pipeline enforcing automated verification, JUnit test reporting, and artifact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141732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DECLARATIVE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Multi-Stage Execution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Stage 1: Checkout SCM (Git tracking &amp; clean workspace)</a:t>
            </a:r>
            <a:br/>
            <a:r>
              <a:t>• Stage 2: Parallel Testing (Backend + AI-Service Pytest)</a:t>
            </a:r>
            <a:br/>
            <a:r>
              <a:t>• Stage 3: JUnit Test Result Archival (test-results/*.xml)</a:t>
            </a:r>
            <a:br/>
            <a:r>
              <a:t>• Stage 4: Parallel Docker Image Compilation &amp; Tagging</a:t>
            </a:r>
            <a:br/>
            <a:r>
              <a:t>• Stage 5: Kubernetes Manifest Dry-Run / Validation</a:t>
            </a:r>
            <a:br/>
            <a:r>
              <a:t>• Stage 6: Kubernetes Continuous Rollout &amp; Status Gate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08576" y="1847088"/>
            <a:ext cx="160020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14 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Parallel Pytest Suites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Backend: Password hashing &amp; JWT access token verification</a:t>
            </a:r>
            <a:br/>
            <a:r>
              <a:t>• Backend: 15-minute slot block interval generator</a:t>
            </a:r>
            <a:br/>
            <a:r>
              <a:t>• Backend: Vehicle discount rates &amp; pricing clamp logic</a:t>
            </a:r>
            <a:br/>
            <a:r>
              <a:t>• AI-Service: Random Forest demand forecaster training</a:t>
            </a:r>
            <a:br/>
            <a:r>
              <a:t>• AI-Service: Heuristic intent parsing (select, confirm, cancel)</a:t>
            </a:r>
            <a:br/>
            <a:r>
              <a:t>• AI-Service: Min-max ranking normalization &amp; ordering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645920"/>
            <a:ext cx="3429000" cy="4297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1847088"/>
            <a:ext cx="178308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JUNIT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1762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Standardized Test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2" y="2560320"/>
            <a:ext cx="2971800" cy="3218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Output: test-results/backend-results.xml (5/5 passed)</a:t>
            </a:r>
            <a:br/>
            <a:r>
              <a:t>• Output: test-results/ai-results.xml (9/9 passed)</a:t>
            </a:r>
            <a:br/>
            <a:r>
              <a:t>• Output: test-results/results.xml (14/14 merged)</a:t>
            </a:r>
            <a:br/>
            <a:r>
              <a:t>• Real-time pass/fail trend graphs in Jenkins dashboard</a:t>
            </a:r>
            <a:br/>
            <a:r>
              <a:t>• Immediate build failure notification on regression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89120" y="2011680"/>
            <a:ext cx="3383280" cy="34747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TECHNICAL VERIFICATION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  <a:latin typeface="Segoe UI"/>
              </a:defRPr>
            </a:pPr>
            <a:r>
              <a:t>Live Application &amp; System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475569"/>
                </a:solidFill>
                <a:latin typeface="Segoe UI"/>
              </a:defRPr>
            </a:pPr>
            <a:r>
              <a:t>High-resolution product screenshots captured directly from the running production stack (Port 80 &amp; 8000)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002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DRIVER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Homepage &amp; Destination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Landing interface featuring instant destination query, vehicle filter, and real-time smart availability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1_home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5087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AUTOCOMPLETE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Live Autocomplete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Querying 'Inor' returns verified Google Maps locations: Inorbit Mall Cyberabad Basement and Inorbit Mall Malad.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2_autocomplete_sugg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8745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PROXIMITY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Interactive Map &amp; 0.0 km Mall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Searching 'Inorbit Mall' prioritizes Inorbit Mall Cyberabad at 0.0 km with interactive Leaflet map markers.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3_search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9164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SLOT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Authentic Deck Slot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Displays mall basement slot designations (B1-C01, B1-C02, B1-EV01) with AI score tags and pricing.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4_slot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9164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BOOKING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Booking Modal &amp; Rate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Reserving Slot B1-C01 with vehicle number input, time window, itemized billing, and Razorpay payment options.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5_booking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783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SECURITY /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Authentication &amp; Role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Clean JWT login screen configured with generic demo accounts: Driver, Operator, and Admin (no personal names).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6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002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DRIVER PASSES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Driver Portal — Confirmed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Driver dashboard displaying active confirmed booking at Inorbit Mall (B1-C01) with digital QR badge and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7_driver_my_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3258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Auto-Booking Preference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Configurable driver rules: preferred vehicle type, max budget, and walking distance for automated commuter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8_auto_booking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8745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OPERATOR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Operator Dashboard —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Commercial operator portal showing live venue occupancy percentage, active slot counts, and net recognized revenue.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09_opera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14884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FACILITY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Operator Facility &amp; Slot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Operators manage approved parking complexes, configure operating hours, amenities, and slot deck codes.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10_operator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002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ADMIN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Admin Panel — Venue &amp; User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Administrative console for approving or suspending commercial venues and auditing user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11_admi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8745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SWAGGER API DOCS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FastAPI Interactive Swagger API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Interactive OpenAPI documentation running on Port 8000 (/docs), showing all auth, search, and booking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9994392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9994392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61872" y="1792224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792224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91056" y="179222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828800" y="1746504"/>
            <a:ext cx="4114800" cy="219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🔒 https://smartparking.local</a:t>
            </a:r>
          </a:p>
        </p:txBody>
      </p:sp>
      <p:pic>
        <p:nvPicPr>
          <p:cNvPr id="11" name="Picture 10" descr="12_api_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0824"/>
            <a:ext cx="9994392" cy="43799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24231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CONTAINER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Docker Compose 7-Service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PowerShell terminal showing all 7 containerized services running healthy: frontend, backend, worker, ai, ollama, mysql, redis.</a:t>
            </a:r>
          </a:p>
        </p:txBody>
      </p:sp>
      <p:pic>
        <p:nvPicPr>
          <p:cNvPr id="5" name="Picture 4" descr="13_docker_contai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9994392" cy="177415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9164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MYSQL 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Database Verification — Canonical Malls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Direct MySQL query output verifying 49 approved Google Maps complexes and authentic basement slot configurations.</a:t>
            </a:r>
          </a:p>
        </p:txBody>
      </p:sp>
      <p:pic>
        <p:nvPicPr>
          <p:cNvPr id="5" name="Picture 4" descr="14_canonical_mysql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9994392" cy="24394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96596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Automated Test Suite (8/8 Passed)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Full test suite execution verifying health, real suggestions, 5 km boundary enforcement, two-wheeler discounts, and hold-confirm.</a:t>
            </a:r>
          </a:p>
        </p:txBody>
      </p:sp>
      <p:pic>
        <p:nvPicPr>
          <p:cNvPr id="5" name="Picture 4" descr="15_end_to_end_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9994392" cy="17741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002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JENKINS 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Jenkins CI Pipeline &amp; JUnit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PowerShell terminal showing Jenkins test execution across Backend and AI-Service with 14/14 tests passed.</a:t>
            </a:r>
          </a:p>
        </p:txBody>
      </p:sp>
      <p:pic>
        <p:nvPicPr>
          <p:cNvPr id="5" name="Picture 4" descr="16_jenkins_c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9994392" cy="24394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60020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KUBERNETES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Kubernetes Manifests &amp; Kustomize Dry-Run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PowerShell terminal validating Kubernetes Kustomize build, ClusterIP/NodePort Services, HPA, and Ingress dry-run.</a:t>
            </a:r>
          </a:p>
        </p:txBody>
      </p:sp>
      <p:pic>
        <p:nvPicPr>
          <p:cNvPr id="5" name="Picture 4" descr="17_kubernetes_manife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91640"/>
            <a:ext cx="9994392" cy="227682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87452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VERIFIED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Results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Key quantitative indicators and empirical verification from the running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2677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Segoe UI"/>
              </a:defRPr>
            </a:pPr>
            <a:r>
              <a:t>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Real Google Maps Venues</a:t>
            </a:r>
            <a:br/>
            <a:r>
              <a:t>Approved complexes across 7 major metro cities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737360"/>
            <a:ext cx="22677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59669"/>
                </a:solidFill>
                <a:latin typeface="Segoe UI"/>
              </a:defRPr>
            </a:pPr>
            <a:r>
              <a:t>637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Deck Slots Configured</a:t>
            </a:r>
            <a:br/>
            <a:r>
              <a:t>Authentic basement codes (B1-C01, B1-EV01, B1-M01)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737360"/>
            <a:ext cx="22677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97706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86000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Pytest Suites Passing</a:t>
            </a:r>
            <a:br/>
            <a:r>
              <a:t>100% tests passed across Backend and AI-Service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737360"/>
            <a:ext cx="22677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7C3AED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86000"/>
            <a:ext cx="22677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K8s Manifest Resources</a:t>
            </a:r>
            <a:br/>
            <a:r>
              <a:t>Complete Kustomize suite with HPA autoscaling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10728655" cy="2606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538728"/>
            <a:ext cx="86868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867912"/>
            <a:ext cx="102714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Key Empirical Verification Highlights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10271455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• Jenkins Declarative CI: Automated multi-stage pipeline executes parallel pytest suites for Backend and AI-Service, generating standardized JUnit XML reports (14/14 tests passed, 0 failures).</a:t>
            </a:r>
            <a:br/>
            <a:br/>
            <a:r>
              <a:t>• Kubernetes Orchestration: 9 production K8s manifests compiled cleanly via Kustomize; validated with client dry-run, HPA autoscaling (2-5 pods at 75% CPU), and self-healing health probes.</a:t>
            </a:r>
            <a:br/>
            <a:br/>
            <a:r>
              <a:t>• Proximity Mall Priority: Searching 'Inorbit Mall' returns Inorbit Mall Cyberabad at 0.0 km (₹30/hr, slot B1-C01) ahead of distant bus or railway stations.</a:t>
            </a:r>
            <a:br/>
            <a:br/>
            <a:r>
              <a:t>• Fair Two-Wheeler Rate: Searching with vehicle_type=MOTORCYCLE applies 0.40x multiplier → ₹12/hr for slot B1-M01.</a:t>
            </a:r>
            <a:br/>
            <a:br/>
            <a:r>
              <a:t>• Deterministic Core: Slot hold, 15-minute block constraints, and Razorpay checkout verified end-to-end with Booking ID 15 CONFIRMED.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84048"/>
            <a:ext cx="1783080" cy="2560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04088"/>
            <a:ext cx="1072865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4712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SmartParking bridges urban mobility friction with transparent AI, fair pricing, and enterprise cloud DevOps.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594360" cy="2560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Authentic &amp; Real-World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49 verified Google Maps landmarks, authentic mall basement deck nomenclature, and fair rate calibration for Indian cities.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645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1847088"/>
            <a:ext cx="59436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2176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Intelligent &amp; Adaptive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560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Proximity-first ranking algorithm, commuter auto-booking, and demand-aware surge multipliers up to a safe 1.30x cap.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133088"/>
            <a:ext cx="594360" cy="256032"/>
          </a:xfrm>
          <a:prstGeom prst="round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7C3AED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CI/CD &amp; Cloud Orchestrated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Automated Jenkins declarative pipeline with parallel JUnit test gates, coupled with production-ready Kubernetes manifests and HPA autoscaling.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931920"/>
            <a:ext cx="52120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73952" y="4133088"/>
            <a:ext cx="594360" cy="256032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D97706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0F172A"/>
                </a:solidFill>
                <a:latin typeface="Segoe UI"/>
              </a:defRPr>
            </a:pPr>
            <a:r>
              <a:t>Deterministic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846320"/>
            <a:ext cx="475488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Segoe UI"/>
              </a:defRPr>
            </a:pPr>
            <a:r>
              <a:t>Decoupled 7-service architecture guarantees 100% search and booking uptime even during external AI or payment downtime.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011680"/>
            <a:ext cx="2103120" cy="347472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F172A"/>
                </a:solidFill>
                <a:latin typeface="Segoe UI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Segoe UI"/>
              </a:defRPr>
            </a:pPr>
            <a:r>
              <a:t>Thank You for Your Time &amp;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  <a:latin typeface="Segoe UI"/>
              </a:defRPr>
            </a:pPr>
            <a:r>
              <a:t>SmartParking Platform  •  Course SWE4008  •  Slot L11 + L12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